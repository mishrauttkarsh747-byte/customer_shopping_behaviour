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Performance Insights &amp; Strategic Recommendations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data-driven deep dive into $233K of revenue — uncovering who buys, what they buy, and where the biggest growth opportunities lie.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4207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$233K Revenue Across 3,900 Transactions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01292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$233K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3261221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Revenue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669903"/>
            <a:ext cx="30302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3,900 transactions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7972" y="2401292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$59.76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3927972" y="3261221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Purchase Value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927972" y="3669903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order across all segments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94674" y="4444802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3.75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2294674" y="5304730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Rating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2294674" y="5713413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 of 5.0 average satisfaction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Clothing Dominates: 45% of All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6205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842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326878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Clothing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leads with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$104,264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nearly half of all revenue at 44.73%. Accessories follow at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$74,200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(31.83%), meaning these two categories alone account for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76.56%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revenue.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top single product is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Blouse at $10,410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signaling strong appetite for women's apparel that could be further expanded.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826496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511323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504378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categories. Three-quarters of the business. That's where investment belongs.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 Customers Drive 68% of Revenue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3779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more than double the female segment's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68/32 split reveals a significant imbalance that also signals untapped potential.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female segment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significantly underpenetrated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With targeted product curation, marketing, and personalization, this represents one of the highest-ceiling growth levers in the business.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55+ Age Group: Your Highest-Value Segment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55+ Revenue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6425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$69,590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single highest-revenue age cohort in the entire dataset.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Purchasing Power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Mature customers demonstrate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strong, consistent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spending behavior above all other age groups.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Implication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marketing, product mix, and UX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specifically for this high-value demographic.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 Season Peaks at $60K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Seasonal Revenue Pattern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Fall dominates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$60,018 — the peak revenue season. A clear seasonal demand pattern emerges across the year, with Q4 months consistently outperforming Q1 and Q2.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inventory planning, promotional campaigns, and staffing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around this seasonal rhythm is a direct path to margin improvement without additional acquisition spend.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Non-Subscribers Generate 73% of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6205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842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Gap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326878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account for a striking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$170,436 (73%)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revenue, while subscribers contribute only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$62,645 (27%)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isn't a failure — it's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massive growth opportunity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subscription model is severely underutilized. Converting even a fraction of non-subscribers into recurring members could dramatically stabilize and grow revenue.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826496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511323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504378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programs unlock predictable revenue. This gap demands immediate attention.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98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Discounts Reduce AOV by $0.85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38537"/>
            <a:ext cx="3496877" cy="2349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95294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Discount AOV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36163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$60.13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order value when no discount is applied — the higher-performing baseline.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738537"/>
            <a:ext cx="3496877" cy="23495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95294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AOV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36163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$59.28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order value when discounts are applied — margin erosion without meaningful volume uplift.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738537"/>
            <a:ext cx="3496877" cy="23495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95294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361630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erode margins without driving compensating volume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$0.85 drop per order at scale translates to thousands in lost revenue annually.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176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Credit Card Leads Payment Methods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97385"/>
            <a:ext cx="3278403" cy="28460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56983" y="2078633"/>
            <a:ext cx="260760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Behavior Insight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4356983" y="2491581"/>
            <a:ext cx="2607602" cy="3579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Credit Card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generates the highest total revenue at 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$40,310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confirming it as the dominant payment channel.</a:t>
            </a:r>
            <a:endParaRPr lang="en-US" sz="1300" dirty="0"/>
          </a:p>
          <a:p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However, 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Debit Card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 post the highest per-transaction value at 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$60.92 AOV</a:t>
            </a:r>
            <a:pPr algn="l" indent="0" marL="0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suggesting debit users make more deliberate, higher-value purchases.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method is a meaningful signal of purchase intent and should inform checkout optimization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40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 Shipping Wins: $40.8K Revenue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77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Strategy Breakdown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61444"/>
            <a:ext cx="5203794" cy="275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Free Shipping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drives the highest total revenue at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$40,777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volume wins when friction is removed at checkout.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Meanwhile,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2-Day Shipping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delivers the best per-order value at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$60.73 AOV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that urgency-driven buyers spend more per transaction.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optimal strategy: use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free shipping as a volume engine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premium shipping options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capture high-intent, high-value buyers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1988145"/>
            <a:ext cx="5476043" cy="3755827"/>
          </a:xfrm>
          <a:prstGeom prst="roundRect">
            <a:avLst>
              <a:gd name="adj" fmla="val 362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17715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AOV Comparison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385658" y="2685058"/>
            <a:ext cx="2454511" cy="1479848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1015" y="2880420"/>
            <a:ext cx="20637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 Shipping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81015" y="3364706"/>
            <a:ext cx="206379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$40,777 total revenue — highest volume driver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2685058"/>
            <a:ext cx="2454511" cy="1479848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4533" y="2880420"/>
            <a:ext cx="20637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2-Day Shipping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224533" y="3364706"/>
            <a:ext cx="206379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$60.73 AOV — best per-order value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85658" y="4353917"/>
            <a:ext cx="5098029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1015" y="4549279"/>
            <a:ext cx="47073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 Shipping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581015" y="5033566"/>
            <a:ext cx="47073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middle tier for budget-conscious buyers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41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Customers (31+ Purchases) Worth $144K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58553"/>
            <a:ext cx="5207465" cy="3748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105" y="1735733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Is 5.6× More Valuable Than Acquisition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9105" y="2209602"/>
            <a:ext cx="5207465" cy="193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31+ previous purchases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generate a remarkable 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$144,000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highest revenue cohort by a wide margin.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that to new customers (0–5 purchases) who contribute just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$25,692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That's a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5.6× multiplier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lifetime value simply through retention.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29105" y="4352032"/>
            <a:ext cx="5207465" cy="1603573"/>
          </a:xfrm>
          <a:prstGeom prst="roundRect">
            <a:avLst>
              <a:gd name="adj" fmla="val 4873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5" y="4628356"/>
            <a:ext cx="232563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3729" y="4563269"/>
            <a:ext cx="441681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 is unambiguous: invest in keeping customers, not just acquiring them. Loyalty programs, VIP tiers, and personalized re-engagement are the highest-ROI moves available.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0763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Immediate Actions to Maximize Revenue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907381"/>
            <a:ext cx="3065386" cy="2666107"/>
          </a:xfrm>
          <a:prstGeom prst="roundRect">
            <a:avLst>
              <a:gd name="adj" fmla="val 279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5025" y="2090936"/>
            <a:ext cx="26982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Expand Female Segment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5025" y="2467471"/>
            <a:ext cx="2698286" cy="192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dominate at 68% of revenue. Targeted campaigns, product curation, and personalized marketing for women could unlock $50K+ in new revenue. This is your biggest untapped opportunity.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892949" y="1907381"/>
            <a:ext cx="3065386" cy="2666107"/>
          </a:xfrm>
          <a:prstGeom prst="roundRect">
            <a:avLst>
              <a:gd name="adj" fmla="val 279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76499" y="2090936"/>
            <a:ext cx="26982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Subscription Model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76499" y="2467471"/>
            <a:ext cx="2698286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generate 73% of revenue. Converting even 10% of non-subscribers to recurring subscriptions creates predictable, stable revenue streams. This transforms your business model.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4739580"/>
            <a:ext cx="6296860" cy="1567557"/>
          </a:xfrm>
          <a:prstGeom prst="roundRect">
            <a:avLst>
              <a:gd name="adj" fmla="val 47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025" y="4923135"/>
            <a:ext cx="59297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Eliminate Discounting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5025" y="5299670"/>
            <a:ext cx="592975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Discounts reduce AOV by $0.85 without driving volume gains. Shift to value-based pricing, bundling, and premium positioning to protect margins and increase profitability.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2026-08-27T17:59:07Z</dcterms:created>
  <dcterms:modified xsi:type="dcterms:W3CDTF">2026-08-27T17:59:07Z</dcterms:modified>
</cp:coreProperties>
</file>